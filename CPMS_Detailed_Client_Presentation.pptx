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92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PROJECT MANAGEMENT SYSTEM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509760" y="6492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7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DAYAN GANGANATH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D"/>
          </a:solidFill>
          <a:ln w="12700">
            <a:solidFill>
              <a:srgbClr val="112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BFD8"/>
          </a:solidFill>
          <a:ln w="12700">
            <a:solidFill>
              <a:srgbClr val="42B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CONSTRUCTION PROJECT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MANAGEMENT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2E2F2"/>
                </a:solidFill>
              </a:rPr>
              <a:t>Detailed Client &amp; System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4290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9CCE0"/>
                </a:solidFill>
              </a:rPr>
              <a:t>Centralized control for projects, finance, site operations, labour, contractors, documents and client visibility.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46177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6360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95% COMPLETE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258568" y="461772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46360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SPRING BOOT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739896" y="46177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REACT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882896" y="46177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MYSQL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25896" y="461772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46360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JWT SECURITY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58952" y="5897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5"/>
                </a:solidFill>
              </a:rPr>
              <a:t>Prepared by Dayan Ganganath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What the client should understand within the first two minutes.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" cy="192024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What it 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32918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 centralized web-based construction management platform that brings commercial, site, labour, contractor, document and client information into one controlled system.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54864" cy="192024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892808"/>
            <a:ext cx="32918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It reduces fragmented records, improves visibility, makes responsibility clearer, strengthens financial control and gives stakeholders role-specific access.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417320"/>
            <a:ext cx="54864" cy="192024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563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5592" y="1892808"/>
            <a:ext cx="32461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Users log in through secure role-based portals. Each action is restricted by role, assignment and ownership rules, while operational data is stored centrally.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10835640" cy="1554480"/>
          </a:xfrm>
          <a:prstGeom prst="roundRect">
            <a:avLst>
              <a:gd name="adj" fmla="val 2941"/>
            </a:avLst>
          </a:prstGeom>
          <a:solidFill>
            <a:srgbClr val="EAF2FF"/>
          </a:solidFill>
          <a:ln w="12700">
            <a:solidFill>
              <a:srgbClr val="C7D8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53D"/>
                </a:solidFill>
              </a:rPr>
              <a:t>One System → One Source of Project Truth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5840" y="461772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2D3A49"/>
                </a:solidFill>
              </a:rPr>
              <a:t>Management controls operations and finance • Site teams update execution • Contractors see assigned commercial data • Clients receive approved visibility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problems CPMS addresses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system was designed around real construction workflow pain points—not around technology alone.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4864" cy="169164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17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Scattered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Project data can be spread across WhatsApp, spreadsheets, paper files, phone calls and personal devices.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371600"/>
            <a:ext cx="54864" cy="169164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17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Delayed site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Management and clients often depend on manual follow-ups before they know what happened on site.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71600"/>
            <a:ext cx="54864" cy="169164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17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Finance reconciliation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4708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receipts, expenses, contractor bills and actual payments can become difficult to reconcile consistently.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3375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337560"/>
            <a:ext cx="54864" cy="169164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83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Unclear responsibility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81304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Without controlled access, it is difficult to identify who can view, update or approve each type of information.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61688" y="33375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337560"/>
            <a:ext cx="54864" cy="169164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483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Document confusion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81304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Drawings, payment slips, photos and reports may exist in multiple locations and versions.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3375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337560"/>
            <a:ext cx="54864" cy="169164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483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Limited auditability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813048"/>
            <a:ext cx="3154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When status or visibility changes are informal, management has less traceability over operational decisions.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fragmented work to controlled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CPMS does not replace the construction process; it organizes and controls the information around it.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656"/>
                </a:solidFill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4652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9A66"/>
                </a:solidFill>
              </a:rPr>
              <a:t>WITH CPMS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4708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Separate spreadsheets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Chat-based approvals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054096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6382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Manual payment tracking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712464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82219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Photos mixed in phones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370832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48056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Drawings shared ad hoc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5029200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13892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Client updates by follow-up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84708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Central project records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395728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Structured status workflows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3054096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16382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Synchronized bill/payment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3712464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82219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Project-based site gallery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4370832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448056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Controlled document visibility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389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513892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Dedicated client portal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57800" y="3566160"/>
            <a:ext cx="1005840" cy="0"/>
          </a:xfrm>
          <a:prstGeom prst="line">
            <a:avLst/>
          </a:prstGeom>
          <a:noFill/>
          <a:ln w="22860">
            <a:solidFill>
              <a:srgbClr val="1E66F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30368" y="37673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7856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STANDARDIZED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manages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single platform spans commercial, operational, workforce, contractor and stakeholder workflows.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98448"/>
            <a:ext cx="54864" cy="1298448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447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Clients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77393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records, assigned projects and portal access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52544" y="129844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2544" y="1298448"/>
            <a:ext cx="54864" cy="1298448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4447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Projects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136" y="177393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Project details, status, assignments and summaries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83296" y="129844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298448"/>
            <a:ext cx="54864" cy="1298448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4447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BOQ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7888" y="177393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Bill of quantities, items and project commercial baseline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807208"/>
            <a:ext cx="54864" cy="1298448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953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328269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Expenses, client payments, accounts and site cost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52544" y="280720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52544" y="2807208"/>
            <a:ext cx="54864" cy="1298448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2953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Contractors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7136" y="328269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Profiles, bills, ledgers, assignments and payments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83296" y="280720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3296" y="2807208"/>
            <a:ext cx="54864" cy="1298448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2953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Labour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7888" y="328269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Workers, attendance and labour payments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21792" y="43159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4315968"/>
            <a:ext cx="54864" cy="1298448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4622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Operations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" y="479145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Progress, issues, photos and material requests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352544" y="43159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52544" y="4315968"/>
            <a:ext cx="54864" cy="1298448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44622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Documents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17136" y="479145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Drawings/files, secure download and visibility control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083296" y="4315968"/>
            <a:ext cx="34564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83296" y="4315968"/>
            <a:ext cx="54864" cy="1298448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7888" y="44622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Control Layer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47888" y="4791456"/>
            <a:ext cx="31821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Notifications, audit logs and role-based security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uses CPMS—and what each person manages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Role-based access keeps operational responsibility clear and limits unnecessary exposure.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27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587"/>
                </a:solidFill>
              </a:rPr>
              <a:t>ROLE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94560" y="152704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587"/>
                </a:solidFill>
              </a:rPr>
              <a:t>WHAT THEY MANAGE / SEE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75320" y="1527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587"/>
                </a:solidFill>
              </a:rPr>
              <a:t>PURPOSE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1810512"/>
            <a:ext cx="1028700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2024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ADMIN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A49"/>
                </a:solidFill>
              </a:rPr>
              <a:t>Users, clients, projects, contractors, assignments, finance, audit and system-wide control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8275320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D3A49"/>
                </a:solidFill>
              </a:rPr>
              <a:t>Full administrative control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41248" y="2560320"/>
            <a:ext cx="1028700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670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8833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MANAGER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194560" y="265176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A49"/>
                </a:solidFill>
              </a:rPr>
              <a:t>Projects, BOQ, finance, contractors, labour, reports, site operations and documents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8275320" y="2651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D3A49"/>
                </a:solidFill>
              </a:rPr>
              <a:t>Management &amp; commercial operations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41248" y="3310128"/>
            <a:ext cx="1028700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419856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381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SUPERVISOR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194560" y="340156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A49"/>
                </a:solidFill>
              </a:rPr>
              <a:t>Assigned projects, daily progress, material requests, site issues, photos and documents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8275320" y="34015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D3A49"/>
                </a:solidFill>
              </a:rPr>
              <a:t>Site execution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41248" y="4059936"/>
            <a:ext cx="1028700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16966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8795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CONTRACTOR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194560" y="415137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A49"/>
                </a:solidFill>
              </a:rPr>
              <a:t>Assigned projects, bills, payments, material requests, visible documents and payment slips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275320" y="41513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D3A49"/>
                </a:solidFill>
              </a:rPr>
              <a:t>Contractor commercial portal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41248" y="4809744"/>
            <a:ext cx="1028700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919472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93776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CLIENT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2194560" y="490118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A49"/>
                </a:solidFill>
              </a:rPr>
              <a:t>Assigned projects, dashboard, progress, approved photos and client-visible documents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8275320" y="49011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D3A49"/>
                </a:solidFill>
              </a:rPr>
              <a:t>Approved project visibility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project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typical construction project can be managed from onboarding through site execution and stakeholder visibility.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099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1. Client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8952" y="200253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Create client record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971800" y="211226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60020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7099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2. Project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47872" y="200253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Create project &amp; status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760720" y="211226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7099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3. BOQ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36792" y="200253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Set commercial baseline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549640" y="211226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60020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7099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4. Assign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25712" y="200253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Supervisor / contractor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5. Execute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" y="396849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Progress, labour, materials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971800" y="407822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74720" y="356616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6. Control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47872" y="396849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Issues, photos, documents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760720" y="407822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63640" y="356616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7. Finance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6792" y="396849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Costs, bills, payments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549640" y="4078224"/>
            <a:ext cx="45720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52560" y="3566160"/>
            <a:ext cx="2286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25712" y="3675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8. 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25712" y="396849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Management &amp; client visibility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0835640" y="2103120"/>
            <a:ext cx="0" cy="118872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14400" y="565099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587"/>
                </a:solidFill>
              </a:rPr>
              <a:t>Every stage writes back to the same database, so operational and financial information stays connected to the project.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BFD8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the platform is structured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74320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4F2"/>
                </a:solidFill>
              </a:rPr>
              <a:t>A modern web architecture separates user interface, business logic, security, data storage and file access so the system can evolve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4114800"/>
            <a:ext cx="1828800" cy="0"/>
          </a:xfrm>
          <a:prstGeom prst="line">
            <a:avLst/>
          </a:prstGeom>
          <a:noFill/>
          <a:ln w="50800">
            <a:solidFill>
              <a:srgbClr val="42BF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system uses a clear frontend → API → service → database structure.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42B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93852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Users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8952" y="2231136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Admin • Manager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Supervisor • Contractor • Client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063240" y="182880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93852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React Frontend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36392" y="223113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Role-specific screens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Forms • Tables • Dashboards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93852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Spring Boot 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59552" y="223113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Controllers • Validation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Business services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909560" y="182880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19385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MySQL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82712" y="2231136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Projects • Finance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Users • Site data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9966960" y="1828800"/>
            <a:ext cx="15087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193852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File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40112" y="2231136"/>
            <a:ext cx="136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Photos • PDFs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Drawings • Slips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697480" y="2377440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0640" y="2377440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43800" y="2377440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377440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749040"/>
            <a:ext cx="54864" cy="123444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Security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224528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Spring Security + JWT authenticates users and checks role-based API access.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749040"/>
            <a:ext cx="54864" cy="123444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Business rules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45152" y="4224528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Services enforce project assignment, ownership, finance consistency and visibility rules.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046720" y="37490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3749040"/>
            <a:ext cx="54864" cy="123444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Auditability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4224528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Key management actions can generate notifications and audit records.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request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Access is checked before protected project information is returned.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214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Login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41401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Username + password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578608" y="2578608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99232" y="201168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21214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JWT token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72384" y="241401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Issued after successful authentication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846320" y="2578608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66944" y="201168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21214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Role check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0096" y="241401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API verifies ADMIN / MANAGER / SUPERVISOR / CLIENT / CONTRACTOR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114032" y="2578608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34656" y="201168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21214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Project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07808" y="241401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Assignment or ownership is validated when required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381744" y="2578608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02368" y="2011680"/>
            <a:ext cx="1828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1214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Response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0" y="2414016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Only permitted data / file is returned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051560" y="4206240"/>
            <a:ext cx="10058400" cy="1143000"/>
          </a:xfrm>
          <a:prstGeom prst="roundRect">
            <a:avLst>
              <a:gd name="adj" fmla="val 4000"/>
            </a:avLst>
          </a:prstGeom>
          <a:solidFill>
            <a:srgbClr val="FFF7EA"/>
          </a:solidFill>
          <a:ln w="12700">
            <a:solidFill>
              <a:srgbClr val="F0D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443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026"/>
                </a:solidFill>
              </a:rPr>
              <a:t>Important client protection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4315968"/>
            <a:ext cx="699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D3A49"/>
                </a:solidFill>
              </a:rPr>
              <a:t>Client users receive approved project progress, approved photos and client-visible documents. Internal contractor, profit and sensitive cost information is kept outside the client portal.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Central control for users, projects, finance, contractors, site operations and governance.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498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25400" dist="50800" dir="2700000">
              <a:srgbClr val="B8C2CD">
                <a:alpha val="16000"/>
              </a:srgbClr>
            </a:outerShdw>
          </a:effectLst>
        </p:spPr>
      </p:sp>
      <p:pic>
        <p:nvPicPr>
          <p:cNvPr id="5" name="Image 0" descr="/mnt/data/cpms_asset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44752"/>
            <a:ext cx="7278624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94192" y="1417320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94192" y="1417320"/>
            <a:ext cx="54864" cy="91440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58784" y="15636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System control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58784" y="1892808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Creates and manages core records, assignments and configuration.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8394192" y="2478024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94192" y="2478024"/>
            <a:ext cx="54864" cy="91440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8784" y="262432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Finance &amp; operations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58784" y="295351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Accesses project finance, contractor bills, labour and reports.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394192" y="3538728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94192" y="3538728"/>
            <a:ext cx="54864" cy="91440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36850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58784" y="4014216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Reviews notifications, audit logs and visibility decisions.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394192" y="4599432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4599432"/>
            <a:ext cx="54864" cy="91440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474573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Client readiness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58784" y="5074920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Controls what project information becomes visible externally.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 role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Management-level access focuses on operational and commercial control without full user administration.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416052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Commercial &amp; operational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8463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2976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Projects &amp; clients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BOQ and progress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Expenses and client payments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Contractors, bills and ledger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Labour and site costs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417320"/>
            <a:ext cx="54864" cy="416052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563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control &amp; governance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3952" y="1892808"/>
            <a:ext cx="48463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629400" y="1965960"/>
            <a:ext cx="42976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Site reports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Material requests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Site issues and photos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 documents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Audit logs &amp; notifications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983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587"/>
                </a:solidFill>
              </a:rPr>
              <a:t>The Manager role is useful when the client wants management staff to operate the system without granting them full administrator privileges.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Supervisor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focused workspace for people responsible for assigned construction sites.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498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25400" dist="50800" dir="2700000">
              <a:srgbClr val="B8C2CD">
                <a:alpha val="16000"/>
              </a:srgbClr>
            </a:outerShdw>
          </a:effectLst>
        </p:spPr>
      </p:sp>
      <p:pic>
        <p:nvPicPr>
          <p:cNvPr id="5" name="Image 0" descr="/mnt/data/cpms_assets/supervi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44752"/>
            <a:ext cx="7278624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94192" y="1417320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94192" y="1417320"/>
            <a:ext cx="54864" cy="91440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58784" y="15636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Assigned projects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58784" y="1892808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Supervisors work only with projects assigned to their account.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8394192" y="2478024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94192" y="2478024"/>
            <a:ext cx="54864" cy="91440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8784" y="262432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Daily site updates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58784" y="295351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Records project progress and site execution information.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394192" y="3538728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94192" y="3538728"/>
            <a:ext cx="54864" cy="91440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36850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Raise site needs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58784" y="4014216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Submits material requests and site issues for management action.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394192" y="4599432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4599432"/>
            <a:ext cx="54864" cy="91440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474573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Evidence &amp; documents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58784" y="5074920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Uploads project documents and site information securely.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Contractor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commercial portal for assigned work, bills, payments, requests and controlled documents.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498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25400" dist="50800" dir="2700000">
              <a:srgbClr val="B8C2CD">
                <a:alpha val="16000"/>
              </a:srgbClr>
            </a:outerShdw>
          </a:effectLst>
        </p:spPr>
      </p:sp>
      <p:pic>
        <p:nvPicPr>
          <p:cNvPr id="5" name="Image 0" descr="/mnt/data/cpms_assets/contr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44752"/>
            <a:ext cx="7278624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94192" y="1417320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94192" y="1417320"/>
            <a:ext cx="54864" cy="91440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58784" y="15636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Assigned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58784" y="1892808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Contractors see only projects assigned to their contractor account.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8394192" y="2478024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94192" y="2478024"/>
            <a:ext cx="54864" cy="91440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8784" y="262432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Bills &amp; payments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58784" y="295351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Commercial dashboard separates bill values, paid values and outstanding balances.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394192" y="3538728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94192" y="3538728"/>
            <a:ext cx="54864" cy="91440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36850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Material requests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58784" y="4014216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Contractors can raise project-specific material requests.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394192" y="4599432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4599432"/>
            <a:ext cx="54864" cy="91440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474573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Secure downloads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58784" y="5074920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Visible project documents and payment slips can be downloaded through protected endpoints.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simplified portal that gives clients transparency without exposing internal management 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4980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25400" dist="50800" dir="2700000">
              <a:srgbClr val="B8C2CD">
                <a:alpha val="16000"/>
              </a:srgbClr>
            </a:outerShdw>
          </a:effectLst>
        </p:spPr>
      </p:sp>
      <p:pic>
        <p:nvPicPr>
          <p:cNvPr id="5" name="Image 0" descr="/mnt/data/cpms_assets/cl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44752"/>
            <a:ext cx="7278624" cy="4233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94192" y="1417320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94192" y="1417320"/>
            <a:ext cx="54864" cy="91440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58784" y="15636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Project visibility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58784" y="1892808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sees only projects assigned to their account.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8394192" y="2478024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94192" y="2478024"/>
            <a:ext cx="54864" cy="91440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8784" y="262432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Progress dashboard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58784" y="2953512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Key project progress information is presented in a client-friendly view.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394192" y="3538728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94192" y="3538728"/>
            <a:ext cx="54864" cy="91440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36850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Approved photos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58784" y="4014216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Only photos approved for client visibility are shown.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394192" y="4599432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94192" y="4599432"/>
            <a:ext cx="54864" cy="91440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474573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Client documents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58784" y="5074920"/>
            <a:ext cx="28529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Only documents explicitly marked client-visible can be downloaded.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BFD8"/>
                </a:solidFill>
              </a:rPr>
              <a:t>CORE SYSTEM FUNCTIONS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Module-by-module explanation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74320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4F2"/>
                </a:solidFill>
              </a:rPr>
              <a:t>The following slides explain what each module stores, what it manages and how it supports the business process.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4114800"/>
            <a:ext cx="1828800" cy="0"/>
          </a:xfrm>
          <a:prstGeom prst="line">
            <a:avLst/>
          </a:prstGeom>
          <a:noFill/>
          <a:ln w="50800">
            <a:solidFill>
              <a:srgbClr val="42BFD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 — Client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Creates the client identity that can later be linked to projects and a secure client portal account.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" cy="356616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Data managed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31546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profile details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Contact information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Project relationship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Portal-related linkage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54864" cy="356616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Management purpose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1892808"/>
            <a:ext cx="31546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Maintain a reliable client register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Connect clients to project records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Support portal access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Avoid duplicate/disconnected client information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54864" cy="356616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Typical workflow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7032" y="1892808"/>
            <a:ext cx="31546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Create client → create project → assign project relationship → create/link user → client logs in → views approved project data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2 — Project management &amp; assignments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project is the central record that connects commercial, site, workforce, contractor and client information.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8862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 identity &amp; location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 status monitoring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Client relationship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Supervisor assignment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Contractor assignment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Project-specific dashboard context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D3A49"/>
                </a:solidFill>
              </a:rPr>
              <a:t>Project-based access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60020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9552" y="17099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59552" y="200253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Central business record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8503920" y="297180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7072" y="30815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BOQ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2743200" cy="960120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4476398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458612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Finance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2377440"/>
            <a:ext cx="1371600" cy="2464718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4476398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458612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Progress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-1371600" cy="2464718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297180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30815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Labour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2377440"/>
            <a:ext cx="-2743200" cy="960120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89120" y="1467202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157693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Documents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0" y="2377440"/>
            <a:ext cx="-1371600" cy="-544478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2320" y="1467202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57693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Contractors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2377440"/>
            <a:ext cx="1371600" cy="-544478"/>
          </a:xfrm>
          <a:prstGeom prst="line">
            <a:avLst/>
          </a:prstGeom>
          <a:noFill/>
          <a:ln w="22860">
            <a:solidFill>
              <a:srgbClr val="D7DFE8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3 — BOQ &amp; progress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BOQ provides structured project commercial information that can support project value and progress understanding.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" cy="361188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BOQ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30632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Create project BOQ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Maintain BOQ items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Track quantities / rates / values where used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Keep commercial information project-specific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337560" cy="36118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54864" cy="361188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Progress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892808"/>
            <a:ext cx="30632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Daily progress records build a history of site execution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Management can review project progress in one place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portal receives permitted progress information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417320"/>
            <a:ext cx="54864" cy="361188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563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5592" y="1892808"/>
            <a:ext cx="32461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Commercial baseline + execution updates give management a clearer picture of project status than isolated spreadsheets or chat updates.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4 — Project finance &amp; accounts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finance layer connects incoming client money, outgoing project costs and project-level reporting.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17320"/>
            <a:ext cx="54864" cy="1572768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Expenses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Record project expenditure and cost entries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417320"/>
            <a:ext cx="54864" cy="1572768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636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Client Payments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9280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Track receipts from clients by project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65008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417320"/>
            <a:ext cx="54864" cy="1572768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636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Accounts Register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9280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Consolidated payment/account records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29184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91840"/>
            <a:ext cx="54864" cy="1572768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381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Cost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6732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Summarize cost movement at project/site level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61688" y="329184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291840"/>
            <a:ext cx="54864" cy="1572768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4381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Financial Summary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76732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Management view of project financial position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29184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291840"/>
            <a:ext cx="54864" cy="1572768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4381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767328"/>
            <a:ext cx="3127248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Combine operational context with project information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5 — Contractor bills, payments &amp; ledger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Contractor finance is controlled so bill balances and payment transactions remain consistent.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8745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556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Bill created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7512" y="2048256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Gross + deductions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487168" y="2194560"/>
            <a:ext cx="329184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98648" y="1645920"/>
            <a:ext cx="18745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7556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Net payable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71800" y="2048256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Calculated amount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791456" y="2194560"/>
            <a:ext cx="329184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02936" y="1645920"/>
            <a:ext cx="18745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7556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Payment recorded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76088" y="2048256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Linked or unallocated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095744" y="2194560"/>
            <a:ext cx="329184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07224" y="1645920"/>
            <a:ext cx="18745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0376" y="17556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Bill paid amount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0376" y="2048256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Updated only from payment records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400032" y="2194560"/>
            <a:ext cx="329184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11512" y="1645920"/>
            <a:ext cx="18745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84664" y="175564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Balance /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84664" y="2048256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Unpaid • Partial • Paid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22960" y="3749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3749040"/>
            <a:ext cx="54864" cy="141732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95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Consistency rules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" y="4224528"/>
            <a:ext cx="2971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New bills start with zero paid amount. Updates cannot overwrite actual paid totals, and a bill cannot be reduced below money already paid.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434840" y="3749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3749040"/>
            <a:ext cx="54864" cy="141732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3895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Ledger visibility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4224528"/>
            <a:ext cx="2971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The ledger distinguishes bill-paid values, total payment transactions and unallocated payments.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046720" y="3749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3749040"/>
            <a:ext cx="54864" cy="141732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3895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Contractor transparency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4224528"/>
            <a:ext cx="2971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The contractor portal shows assigned commercial information without giving access to other contractors or projects.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6 — Labour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Daily labour information is organized so workforce activity can be connected to project cost control.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385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Workers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23113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Maintain worker records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532888" y="2340864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19385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Attendance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4952" y="223113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Record daily attendance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773168" y="2340864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9385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Labour Payments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85232" y="223113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Track labour-related payments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013448" y="2340864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19385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Accounts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25512" y="223113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Reflect project cost movement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253728" y="2340864"/>
            <a:ext cx="30175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19385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Site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65792" y="223113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Include labour in site cost picture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53D"/>
                </a:solidFill>
              </a:rPr>
              <a:t>Business purpose: reduce separate labour notebooks/spreadsheets and connect workforce records to the project financial picture.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7 — Site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supervisor portal turns site activity into structured records that management can review.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4864" cy="1591056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Daily Progress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Record what was completed on the assigned site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371600"/>
            <a:ext cx="54864" cy="1591056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Material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Raise needs and move them into management review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71600"/>
            <a:ext cx="54864" cy="1591056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4708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Report issues for management attention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24612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46120"/>
            <a:ext cx="54864" cy="1591056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924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Site Photos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2160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Capture visual evidence and optionally expose approved photos to clients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61688" y="324612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246120"/>
            <a:ext cx="54864" cy="1591056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3924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Documents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72160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Upload project/site documents for controlled internal or external access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246120"/>
            <a:ext cx="340156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246120"/>
            <a:ext cx="54864" cy="1591056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3924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721608"/>
            <a:ext cx="312724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Alert relevant management users to important workflow events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request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site requirement becomes a structured request instead of a message that can be lost in chat.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299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Supervisor / Contractor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2322576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Creates request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532888" y="2487168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9202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0299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4952" y="2322576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Links request to project and user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864608" y="2487168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9202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20299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76672" y="2322576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Reviews request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196328" y="2487168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19202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20299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Decision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08392" y="2322576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Approve / update status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528048" y="2487168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19202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0299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Audit / Notification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40112" y="2322576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Record important action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10058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069080"/>
            <a:ext cx="54864" cy="105156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1538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Management benefit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544568"/>
            <a:ext cx="9784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Requests remain project-specific, searchable and tied to a clear workflow instead of relying on memory or informal follow-up.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8 — Document &amp; drawing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Project files can be stored once and exposed differently to internal teams, contractors and clients.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3852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Upload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231136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Supervisor or management adds project file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063240" y="182880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93852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Internal Record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36392" y="2231136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Metadata + protected file path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486400" y="141732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52704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Client Visible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59552" y="1819656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Only when explicitly enabled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486400" y="2514600"/>
            <a:ext cx="20574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262432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Contractor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59552" y="2916936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Separately controlled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52704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Client Download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1819656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Secure client endpoint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29600" y="251460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6243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Contractor Download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02752" y="2916936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Secure contractor endpoint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743200" y="2350008"/>
            <a:ext cx="27432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74920" y="2350008"/>
            <a:ext cx="365760" cy="-475488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74920" y="2350008"/>
            <a:ext cx="365760" cy="576072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43800" y="1856232"/>
            <a:ext cx="64008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43800" y="2944368"/>
            <a:ext cx="64008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" y="43434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1253D"/>
                </a:solidFill>
              </a:rPr>
              <a:t>Key design decision: client visibility and contractor visibility are independent, so a document can be shared with one audience without automatically exposing it to the other.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9 — Site photos &amp; client visibility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Photos can support proof of progress while management retains control over what is shared externally.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7568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Capture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96112" y="2368296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Site team adds project photo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090672" y="2514600"/>
            <a:ext cx="47548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196596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07568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Project Link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85032" y="2368296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Photo is stored against the project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879592" y="2514600"/>
            <a:ext cx="47548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96596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07568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Management Review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3952" y="2368296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Visibility is controlled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668512" y="2514600"/>
            <a:ext cx="47548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1965960"/>
            <a:ext cx="2240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207568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Client Gallery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62872" y="2368296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Approved photos appear in client portal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1097280" y="40690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4069080"/>
            <a:ext cx="54864" cy="109728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42153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4544568"/>
            <a:ext cx="9601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The client receives structured progress evidence without being exposed to every internal site image or internal operational record.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10 — Notifications &amp; audit logs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Two control mechanisms help management follow important events and retain traceability.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463040"/>
            <a:ext cx="54864" cy="342900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09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1938528"/>
            <a:ext cx="4663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Generated for important workflow events such as supervisor material requests, site issues, document uploads and contractor material requests.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Management can review unread items and mark notifications as read.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463040"/>
            <a:ext cx="54864" cy="342900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09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Audit 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1938528"/>
            <a:ext cx="4663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Important management actions can be recorded, including request reviews, issue status changes and document visibility changes.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This provides a clearer history of who changed what and when.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097280" y="52303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253D"/>
                </a:solidFill>
              </a:rPr>
              <a:t>Together, these features support operational awareness + accountability.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Access-control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simplified view of how major areas are restricted by user role.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92608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270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Area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3584448" y="1417320"/>
            <a:ext cx="128016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1527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Admin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864608" y="1417320"/>
            <a:ext cx="128016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527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Manager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144768" y="1417320"/>
            <a:ext cx="155448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527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Supervisor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699248" y="1417320"/>
            <a:ext cx="164592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5270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Contractor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345168" y="1417320"/>
            <a:ext cx="1463040" cy="475488"/>
          </a:xfrm>
          <a:prstGeom prst="rect">
            <a:avLst/>
          </a:prstGeom>
          <a:solidFill>
            <a:srgbClr val="112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0888" y="1527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Client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8368" y="1892808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0116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Users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3584448" y="1892808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4864608" y="1892808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011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6144768" y="1892808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2011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7699248" y="189280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9345168" y="1892808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0888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58368" y="2386584"/>
            <a:ext cx="29260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Projects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3584448" y="2386584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864608" y="2386584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6144768" y="2386584"/>
            <a:ext cx="15544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505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Assigned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7699248" y="2386584"/>
            <a:ext cx="1645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2505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Assigned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9345168" y="2386584"/>
            <a:ext cx="1463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0888" y="2505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Assigned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658368" y="2880360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29992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BOQ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3584448" y="2880360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0168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864608" y="2880360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2999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6144768" y="288036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2999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7699248" y="288036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44968" y="2999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9345168" y="2880360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90888" y="2999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658368" y="3374136"/>
            <a:ext cx="29260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" y="3493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Finance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3584448" y="3374136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0168" y="3493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4864608" y="3374136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0328" y="3493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6144768" y="3374136"/>
            <a:ext cx="15544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0488" y="3493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7699248" y="3374136"/>
            <a:ext cx="1645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44968" y="3493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Own view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9345168" y="3374136"/>
            <a:ext cx="1463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90888" y="3493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Limited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658368" y="3867912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" y="39867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Daily Progress</a:t>
            </a:r>
            <a:endParaRPr lang="en-US" sz="890" dirty="0"/>
          </a:p>
        </p:txBody>
      </p:sp>
      <p:sp>
        <p:nvSpPr>
          <p:cNvPr id="66" name="Shape 64"/>
          <p:cNvSpPr/>
          <p:nvPr/>
        </p:nvSpPr>
        <p:spPr>
          <a:xfrm>
            <a:off x="3584448" y="3867912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30168" y="3986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4864608" y="3867912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10328" y="3986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6144768" y="3867912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0488" y="39867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Assigned</a:t>
            </a:r>
            <a:endParaRPr lang="en-US" sz="890" dirty="0"/>
          </a:p>
        </p:txBody>
      </p:sp>
      <p:sp>
        <p:nvSpPr>
          <p:cNvPr id="72" name="Shape 70"/>
          <p:cNvSpPr/>
          <p:nvPr/>
        </p:nvSpPr>
        <p:spPr>
          <a:xfrm>
            <a:off x="7699248" y="386791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44968" y="3986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74" name="Shape 72"/>
          <p:cNvSpPr/>
          <p:nvPr/>
        </p:nvSpPr>
        <p:spPr>
          <a:xfrm>
            <a:off x="9345168" y="3867912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90888" y="39867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View</a:t>
            </a:r>
            <a:endParaRPr lang="en-US" sz="890" dirty="0"/>
          </a:p>
        </p:txBody>
      </p:sp>
      <p:sp>
        <p:nvSpPr>
          <p:cNvPr id="76" name="Shape 74"/>
          <p:cNvSpPr/>
          <p:nvPr/>
        </p:nvSpPr>
        <p:spPr>
          <a:xfrm>
            <a:off x="658368" y="4361688"/>
            <a:ext cx="29260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4088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Material Requests</a:t>
            </a:r>
            <a:endParaRPr lang="en-US" sz="890" dirty="0"/>
          </a:p>
        </p:txBody>
      </p:sp>
      <p:sp>
        <p:nvSpPr>
          <p:cNvPr id="78" name="Shape 76"/>
          <p:cNvSpPr/>
          <p:nvPr/>
        </p:nvSpPr>
        <p:spPr>
          <a:xfrm>
            <a:off x="3584448" y="4361688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30168" y="4480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80" name="Shape 78"/>
          <p:cNvSpPr/>
          <p:nvPr/>
        </p:nvSpPr>
        <p:spPr>
          <a:xfrm>
            <a:off x="4864608" y="4361688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0328" y="4480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82" name="Shape 80"/>
          <p:cNvSpPr/>
          <p:nvPr/>
        </p:nvSpPr>
        <p:spPr>
          <a:xfrm>
            <a:off x="6144768" y="4361688"/>
            <a:ext cx="15544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90488" y="4480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Create</a:t>
            </a:r>
            <a:endParaRPr lang="en-US" sz="890" dirty="0"/>
          </a:p>
        </p:txBody>
      </p:sp>
      <p:sp>
        <p:nvSpPr>
          <p:cNvPr id="84" name="Shape 82"/>
          <p:cNvSpPr/>
          <p:nvPr/>
        </p:nvSpPr>
        <p:spPr>
          <a:xfrm>
            <a:off x="7699248" y="4361688"/>
            <a:ext cx="1645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44968" y="44805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Create</a:t>
            </a:r>
            <a:endParaRPr lang="en-US" sz="890" dirty="0"/>
          </a:p>
        </p:txBody>
      </p:sp>
      <p:sp>
        <p:nvSpPr>
          <p:cNvPr id="86" name="Shape 84"/>
          <p:cNvSpPr/>
          <p:nvPr/>
        </p:nvSpPr>
        <p:spPr>
          <a:xfrm>
            <a:off x="9345168" y="4361688"/>
            <a:ext cx="1463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390888" y="4480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88" name="Shape 86"/>
          <p:cNvSpPr/>
          <p:nvPr/>
        </p:nvSpPr>
        <p:spPr>
          <a:xfrm>
            <a:off x="658368" y="4855464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4088" y="4974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Documents</a:t>
            </a:r>
            <a:endParaRPr lang="en-US" sz="890" dirty="0"/>
          </a:p>
        </p:txBody>
      </p:sp>
      <p:sp>
        <p:nvSpPr>
          <p:cNvPr id="90" name="Shape 88"/>
          <p:cNvSpPr/>
          <p:nvPr/>
        </p:nvSpPr>
        <p:spPr>
          <a:xfrm>
            <a:off x="3584448" y="4855464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30168" y="4974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92" name="Shape 90"/>
          <p:cNvSpPr/>
          <p:nvPr/>
        </p:nvSpPr>
        <p:spPr>
          <a:xfrm>
            <a:off x="4864608" y="4855464"/>
            <a:ext cx="1280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10328" y="4974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94" name="Shape 92"/>
          <p:cNvSpPr/>
          <p:nvPr/>
        </p:nvSpPr>
        <p:spPr>
          <a:xfrm>
            <a:off x="6144768" y="4855464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90488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Assigned</a:t>
            </a:r>
            <a:endParaRPr lang="en-US" sz="890" dirty="0"/>
          </a:p>
        </p:txBody>
      </p:sp>
      <p:sp>
        <p:nvSpPr>
          <p:cNvPr id="96" name="Shape 94"/>
          <p:cNvSpPr/>
          <p:nvPr/>
        </p:nvSpPr>
        <p:spPr>
          <a:xfrm>
            <a:off x="7699248" y="485546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44968" y="49743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Visible only</a:t>
            </a:r>
            <a:endParaRPr lang="en-US" sz="890" dirty="0"/>
          </a:p>
        </p:txBody>
      </p:sp>
      <p:sp>
        <p:nvSpPr>
          <p:cNvPr id="98" name="Shape 96"/>
          <p:cNvSpPr/>
          <p:nvPr/>
        </p:nvSpPr>
        <p:spPr>
          <a:xfrm>
            <a:off x="9345168" y="4855464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390888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Visible only</a:t>
            </a:r>
            <a:endParaRPr lang="en-US" sz="890" dirty="0"/>
          </a:p>
        </p:txBody>
      </p:sp>
      <p:sp>
        <p:nvSpPr>
          <p:cNvPr id="100" name="Shape 98"/>
          <p:cNvSpPr/>
          <p:nvPr/>
        </p:nvSpPr>
        <p:spPr>
          <a:xfrm>
            <a:off x="658368" y="5349240"/>
            <a:ext cx="29260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4088" y="54681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Audit Logs</a:t>
            </a:r>
            <a:endParaRPr lang="en-US" sz="890" dirty="0"/>
          </a:p>
        </p:txBody>
      </p:sp>
      <p:sp>
        <p:nvSpPr>
          <p:cNvPr id="102" name="Shape 100"/>
          <p:cNvSpPr/>
          <p:nvPr/>
        </p:nvSpPr>
        <p:spPr>
          <a:xfrm>
            <a:off x="3584448" y="5349240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30168" y="54681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104" name="Shape 102"/>
          <p:cNvSpPr/>
          <p:nvPr/>
        </p:nvSpPr>
        <p:spPr>
          <a:xfrm>
            <a:off x="4864608" y="5349240"/>
            <a:ext cx="128016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910328" y="54681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2B9A66"/>
                </a:solidFill>
              </a:rPr>
              <a:t>✓</a:t>
            </a:r>
            <a:endParaRPr lang="en-US" sz="890" dirty="0"/>
          </a:p>
        </p:txBody>
      </p:sp>
      <p:sp>
        <p:nvSpPr>
          <p:cNvPr id="106" name="Shape 104"/>
          <p:cNvSpPr/>
          <p:nvPr/>
        </p:nvSpPr>
        <p:spPr>
          <a:xfrm>
            <a:off x="6144768" y="5349240"/>
            <a:ext cx="15544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90488" y="54681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108" name="Shape 106"/>
          <p:cNvSpPr/>
          <p:nvPr/>
        </p:nvSpPr>
        <p:spPr>
          <a:xfrm>
            <a:off x="7699248" y="5349240"/>
            <a:ext cx="1645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44968" y="5468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110" name="Shape 108"/>
          <p:cNvSpPr/>
          <p:nvPr/>
        </p:nvSpPr>
        <p:spPr>
          <a:xfrm>
            <a:off x="9345168" y="5349240"/>
            <a:ext cx="1463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390888" y="5468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D3A49"/>
                </a:solidFill>
              </a:rPr>
              <a:t>—</a:t>
            </a:r>
            <a:endParaRPr lang="en-US" sz="890" dirty="0"/>
          </a:p>
        </p:txBody>
      </p:sp>
      <p:sp>
        <p:nvSpPr>
          <p:cNvPr id="112" name="Text 110"/>
          <p:cNvSpPr/>
          <p:nvPr/>
        </p:nvSpPr>
        <p:spPr>
          <a:xfrm>
            <a:off x="804672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67587"/>
                </a:solidFill>
              </a:rPr>
              <a:t>Note: actual API access also checks assignment / ownership where applicable; this table is a client-friendly summary.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project files are organized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codebase is separated into clear backend and frontend responsibilities, making maintenance easier.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4864" cy="448056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Backend — Spring Boot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507492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config → security and application configuration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controller → REST API endpoints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dto → request/response transfer objects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entity / model → business data structures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repository → database access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security → JWT and authentication support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service → business rules and workflows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Purpose: receive requests, validate access, apply business logic and persist data.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371600"/>
            <a:ext cx="54864" cy="448056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Frontend — 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4224" y="1847088"/>
            <a:ext cx="507492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pages → role-specific and module screens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components → reusable UI blocks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services → API communication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styles / CSS → visual styling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App.jsx → application routes and navigation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assets → static application resources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Purpose: present the system to users, capture actions and call secure backend APIs.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a user clicks “Save”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simple example of the request lifecycle inside the application.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642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1. UI action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7512" y="195681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User submits a form in React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898648" y="2057400"/>
            <a:ext cx="39319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55448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6C6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6642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2. API call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56432" y="195681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Frontend sends request with JWT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687568" y="2057400"/>
            <a:ext cx="39319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155448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6642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3. Controller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5352" y="195681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Receives the request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476488" y="2057400"/>
            <a:ext cx="39319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0" y="155448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C95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6642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4. Security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34272" y="195681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Checks authenticated role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4360" y="342900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D99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5387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5. Service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" y="383133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Validates project/business rules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898648" y="3931920"/>
            <a:ext cx="39319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83280" y="342900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2B9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5387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6. Repository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56432" y="383133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Reads/writes MySQL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687568" y="3931920"/>
            <a:ext cx="393192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72200" y="342900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7780">
            <a:solidFill>
              <a:srgbClr val="1E6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5387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253D"/>
                </a:solidFill>
              </a:rPr>
              <a:t>7. Response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5352" y="383133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587"/>
                </a:solidFill>
              </a:rPr>
              <a:t>Frontend refreshes data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68680" y="544068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253D"/>
                </a:solidFill>
              </a:rPr>
              <a:t>This layered flow is why one UI screen can remain simple while the backend still enforces security, project ownership and finance rules.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live demo 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best client demo is a story, not a tour of every menu.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D"/>
                </a:solidFill>
              </a:rPr>
              <a:t>Admin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39903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Open project → show client / supervisor / contractor relationship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5856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D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22219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Open assigned project → add progress or show material request / document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8152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41732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D"/>
                </a:solidFill>
              </a:rPr>
              <a:t>Admin / 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0449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Review operational item → show visibility controls / finance area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0448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D"/>
                </a:solidFill>
              </a:rPr>
              <a:t>Contractor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867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Show assigned project, bill/payment dashboard and visible document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77240" y="4709160"/>
            <a:ext cx="420624" cy="310896"/>
          </a:xfrm>
          <a:prstGeom prst="roundRect">
            <a:avLst>
              <a:gd name="adj" fmla="val 23529"/>
            </a:avLst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2744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5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D"/>
                </a:solidFill>
              </a:rPr>
              <a:t>Client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4690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Show progress, approved photo and client-visible document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22960" y="5596128"/>
            <a:ext cx="10424160" cy="502920"/>
          </a:xfrm>
          <a:prstGeom prst="roundRect">
            <a:avLst>
              <a:gd name="adj" fmla="val 7273"/>
            </a:avLst>
          </a:prstGeom>
          <a:solidFill>
            <a:srgbClr val="EAF7F2"/>
          </a:solidFill>
          <a:ln w="12700">
            <a:solidFill>
              <a:srgbClr val="BFE2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73328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B9A66"/>
                </a:solidFill>
              </a:rPr>
              <a:t>Client takeaway: the same project is seen differently by each role, while management remains in control.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 to the client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The practical value is not “having software”; it is having controlled and connected project information.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4864" cy="155448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Visibility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Faster access to project status, approved evidence and relevant records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371600"/>
            <a:ext cx="54864" cy="155448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Financial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Better organization of payments, bills, expenses and balances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71600"/>
            <a:ext cx="54864" cy="155448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Accountability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Role ownership, audit records and structured workflows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00400"/>
            <a:ext cx="54864" cy="155448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Consistency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One project record connects site, commercial and document data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6168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200400"/>
            <a:ext cx="54864" cy="155448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Sensitive information is separated by role and project assignment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200400"/>
            <a:ext cx="54864" cy="155448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More projects, users and contractors can be added into the same structure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project status &amp; next stage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Core functionality and role-based regression testing are complete; remaining work focuses on production readiness.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594360"/>
          </a:xfrm>
          <a:prstGeom prst="roundRect">
            <a:avLst>
              <a:gd name="adj" fmla="val 7692"/>
            </a:avLst>
          </a:prstGeom>
          <a:solidFill>
            <a:srgbClr val="EAF7F2"/>
          </a:solidFill>
          <a:ln w="12700">
            <a:solidFill>
              <a:srgbClr val="BFE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9A66"/>
                </a:solidFill>
              </a:rPr>
              <a:t>95% 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71800" y="16642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D3A49"/>
                </a:solidFill>
              </a:rPr>
              <a:t>Core modules • role portals • finance consistency • security checks • document access • regression testing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983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514600"/>
            <a:ext cx="54864" cy="251460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609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Completed / 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990088"/>
            <a:ext cx="47091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Core CRUD modules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Role-based portals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Finance workflows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Supervisor &amp; contractor document access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Client visibility controls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Security endpoint checks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Manual role-based regression testing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309360" y="2514600"/>
            <a:ext cx="4983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2514600"/>
            <a:ext cx="54864" cy="251460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6609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Final-stage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2990088"/>
            <a:ext cx="47091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Production deployment configuration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Production database/environment setup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Deployment verification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Final UI/UX polish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Architecture diagram/documentation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Final proposal &amp; presentation package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handover &amp; training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7"/>
                </a:solidFill>
              </a:rPr>
              <a:t>A successful software handover includes people, process, access and documentation—not only the application.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4864" cy="1554480"/>
          </a:xfrm>
          <a:prstGeom prst="rect">
            <a:avLst/>
          </a:prstGeom>
          <a:solidFill>
            <a:srgbClr val="1E66F5"/>
          </a:solidFill>
          <a:ln w="12700">
            <a:solidFill>
              <a:srgbClr val="1E6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1. Configuration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Create production environment, database, file storage and secure secrets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371600"/>
            <a:ext cx="54864" cy="1554480"/>
          </a:xfrm>
          <a:prstGeom prst="rect">
            <a:avLst/>
          </a:prstGeom>
          <a:solidFill>
            <a:srgbClr val="0F9D8B"/>
          </a:solidFill>
          <a:ln w="12700">
            <a:solidFill>
              <a:srgbClr val="0F9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2. Data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Create users, projects, clients, contractors and initial assignments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71600"/>
            <a:ext cx="54864" cy="1554480"/>
          </a:xfrm>
          <a:prstGeom prst="rect">
            <a:avLst/>
          </a:prstGeom>
          <a:solidFill>
            <a:srgbClr val="6C63D9"/>
          </a:solidFill>
          <a:ln w="12700">
            <a:solidFill>
              <a:srgbClr val="6C6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17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3. Role 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470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Train Admin/Manager first, then Supervisor, Contractor and Client users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5836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00400"/>
            <a:ext cx="54864" cy="1554480"/>
          </a:xfrm>
          <a:prstGeom prst="rect">
            <a:avLst/>
          </a:prstGeom>
          <a:solidFill>
            <a:srgbClr val="D99026"/>
          </a:solidFill>
          <a:ln w="12700">
            <a:solidFill>
              <a:srgbClr val="D990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4. Acceptance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Run agreed test scenarios and capture client sign-off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6168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1688" y="3200400"/>
            <a:ext cx="54864" cy="1554480"/>
          </a:xfrm>
          <a:prstGeom prst="rect">
            <a:avLst/>
          </a:prstGeom>
          <a:solidFill>
            <a:srgbClr val="2B9A66"/>
          </a:solidFill>
          <a:ln w="12700">
            <a:solidFill>
              <a:srgbClr val="2B9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5. Go-Live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Move to production with backup and support procedure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65008" y="3200400"/>
            <a:ext cx="340156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sx="100000" sy="100000" kx="0" ky="0" algn="bl" rotWithShape="0" blurRad="19050" dist="50800" dir="2700000">
              <a:srgbClr val="C8D1D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200400"/>
            <a:ext cx="54864" cy="1554480"/>
          </a:xfrm>
          <a:prstGeom prst="rect">
            <a:avLst/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3467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53D"/>
                </a:solidFill>
              </a:rPr>
              <a:t>6.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675888"/>
            <a:ext cx="312724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D3A49"/>
                </a:solidFill>
              </a:rPr>
              <a:t>Issue tracking, enhancements and controlled future releases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8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9E8"/>
                </a:solidFill>
              </a:rPr>
              <a:t>Questions • Feedback • Next-step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800600" y="3063240"/>
            <a:ext cx="2606040" cy="0"/>
          </a:xfrm>
          <a:prstGeom prst="line">
            <a:avLst/>
          </a:prstGeom>
          <a:noFill/>
          <a:ln w="50800">
            <a:solidFill>
              <a:srgbClr val="42B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Construction Project Management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5"/>
                </a:solidFill>
              </a:rPr>
              <a:t>Centralized • Role-based • Project-focused • Secure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Skyward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CPMS Detailed Client Presentation</dc:title>
  <dc:subject>Construction Project Management System - Detailed Client Presentation</dc:subject>
  <dc:creator>Dayan Ganganath</dc:creator>
  <cp:lastModifiedBy>Dayan Ganganath</cp:lastModifiedBy>
  <cp:revision>1</cp:revision>
  <dcterms:created xsi:type="dcterms:W3CDTF">2026-10-21T18:10:08Z</dcterms:created>
  <dcterms:modified xsi:type="dcterms:W3CDTF">2026-10-21T18:10:08Z</dcterms:modified>
</cp:coreProperties>
</file>